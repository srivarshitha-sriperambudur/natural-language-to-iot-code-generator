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89" r:id="rId2"/>
    <p:sldId id="257" r:id="rId3"/>
    <p:sldId id="288" r:id="rId4"/>
    <p:sldId id="258" r:id="rId5"/>
    <p:sldId id="296" r:id="rId6"/>
    <p:sldId id="297" r:id="rId7"/>
    <p:sldId id="291" r:id="rId8"/>
    <p:sldId id="298" r:id="rId9"/>
    <p:sldId id="299" r:id="rId10"/>
    <p:sldId id="292" r:id="rId11"/>
    <p:sldId id="300" r:id="rId12"/>
    <p:sldId id="308" r:id="rId13"/>
    <p:sldId id="309" r:id="rId14"/>
    <p:sldId id="301" r:id="rId15"/>
    <p:sldId id="310" r:id="rId16"/>
    <p:sldId id="302" r:id="rId17"/>
    <p:sldId id="311" r:id="rId18"/>
    <p:sldId id="303" r:id="rId19"/>
    <p:sldId id="304" r:id="rId20"/>
    <p:sldId id="305" r:id="rId21"/>
    <p:sldId id="312" r:id="rId22"/>
    <p:sldId id="313" r:id="rId23"/>
    <p:sldId id="295" r:id="rId24"/>
    <p:sldId id="282" r:id="rId25"/>
  </p:sldIdLst>
  <p:sldSz cx="12192000" cy="6858000"/>
  <p:notesSz cx="6858000" cy="9144000"/>
  <p:embeddedFontLst>
    <p:embeddedFont>
      <p:font typeface="Bookman Old Style" panose="02050604050505020204" pitchFamily="18" charset="0"/>
      <p:regular r:id="rId27"/>
      <p:bold r:id="rId28"/>
      <p:italic r:id="rId29"/>
      <p:boldItalic r:id="rId30"/>
    </p:embeddedFont>
    <p:embeddedFont>
      <p:font typeface="Libre Franklin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FCAC05-D400-460D-866E-28A74FA27203}" v="24" dt="2026-03-22T17:40:40.510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varshitha Sriperambudur" userId="1c9aeae7aa0be767" providerId="LiveId" clId="{A5434ADC-6F97-4DC0-9F2D-0E0EC8FFB13A}"/>
    <pc:docChg chg="custSel addSld delSld modSld">
      <pc:chgData name="Srivarshitha Sriperambudur" userId="1c9aeae7aa0be767" providerId="LiveId" clId="{A5434ADC-6F97-4DC0-9F2D-0E0EC8FFB13A}" dt="2026-03-22T17:41:15.981" v="339" actId="1076"/>
      <pc:docMkLst>
        <pc:docMk/>
      </pc:docMkLst>
      <pc:sldChg chg="modSp mod">
        <pc:chgData name="Srivarshitha Sriperambudur" userId="1c9aeae7aa0be767" providerId="LiveId" clId="{A5434ADC-6F97-4DC0-9F2D-0E0EC8FFB13A}" dt="2026-03-21T11:45:21.905" v="181" actId="1036"/>
        <pc:sldMkLst>
          <pc:docMk/>
          <pc:sldMk cId="0" sldId="257"/>
        </pc:sldMkLst>
        <pc:spChg chg="mod">
          <ac:chgData name="Srivarshitha Sriperambudur" userId="1c9aeae7aa0be767" providerId="LiveId" clId="{A5434ADC-6F97-4DC0-9F2D-0E0EC8FFB13A}" dt="2026-03-21T11:45:21.905" v="181" actId="1036"/>
          <ac:spMkLst>
            <pc:docMk/>
            <pc:sldMk cId="0" sldId="257"/>
            <ac:spMk id="105" creationId="{00000000-0000-0000-0000-000000000000}"/>
          </ac:spMkLst>
        </pc:spChg>
        <pc:spChg chg="mod">
          <ac:chgData name="Srivarshitha Sriperambudur" userId="1c9aeae7aa0be767" providerId="LiveId" clId="{A5434ADC-6F97-4DC0-9F2D-0E0EC8FFB13A}" dt="2026-03-21T11:44:40.530" v="180" actId="20577"/>
          <ac:spMkLst>
            <pc:docMk/>
            <pc:sldMk cId="0" sldId="257"/>
            <ac:spMk id="107" creationId="{00000000-0000-0000-0000-000000000000}"/>
          </ac:spMkLst>
        </pc:spChg>
      </pc:sldChg>
      <pc:sldChg chg="modSp mod">
        <pc:chgData name="Srivarshitha Sriperambudur" userId="1c9aeae7aa0be767" providerId="LiveId" clId="{A5434ADC-6F97-4DC0-9F2D-0E0EC8FFB13A}" dt="2026-03-21T11:41:04.560" v="52" actId="20577"/>
        <pc:sldMkLst>
          <pc:docMk/>
          <pc:sldMk cId="0" sldId="289"/>
        </pc:sldMkLst>
        <pc:spChg chg="mod">
          <ac:chgData name="Srivarshitha Sriperambudur" userId="1c9aeae7aa0be767" providerId="LiveId" clId="{A5434ADC-6F97-4DC0-9F2D-0E0EC8FFB13A}" dt="2026-03-21T11:41:04.560" v="52" actId="20577"/>
          <ac:spMkLst>
            <pc:docMk/>
            <pc:sldMk cId="0" sldId="289"/>
            <ac:spMk id="99" creationId="{00000000-0000-0000-0000-000000000000}"/>
          </ac:spMkLst>
        </pc:spChg>
      </pc:sldChg>
      <pc:sldChg chg="modSp mod">
        <pc:chgData name="Srivarshitha Sriperambudur" userId="1c9aeae7aa0be767" providerId="LiveId" clId="{A5434ADC-6F97-4DC0-9F2D-0E0EC8FFB13A}" dt="2026-03-21T11:47:50.302" v="184" actId="13239"/>
        <pc:sldMkLst>
          <pc:docMk/>
          <pc:sldMk cId="1620838699" sldId="299"/>
        </pc:sldMkLst>
        <pc:graphicFrameChg chg="modGraphic">
          <ac:chgData name="Srivarshitha Sriperambudur" userId="1c9aeae7aa0be767" providerId="LiveId" clId="{A5434ADC-6F97-4DC0-9F2D-0E0EC8FFB13A}" dt="2026-03-21T11:47:50.302" v="184" actId="13239"/>
          <ac:graphicFrameMkLst>
            <pc:docMk/>
            <pc:sldMk cId="1620838699" sldId="299"/>
            <ac:graphicFrameMk id="2" creationId="{C7C783E8-745B-19BE-8072-A3AD7E8CF577}"/>
          </ac:graphicFrameMkLst>
        </pc:graphicFrameChg>
      </pc:sldChg>
      <pc:sldChg chg="addSp delSp modSp mod">
        <pc:chgData name="Srivarshitha Sriperambudur" userId="1c9aeae7aa0be767" providerId="LiveId" clId="{A5434ADC-6F97-4DC0-9F2D-0E0EC8FFB13A}" dt="2026-03-22T17:41:15.981" v="339" actId="1076"/>
        <pc:sldMkLst>
          <pc:docMk/>
          <pc:sldMk cId="3796560694" sldId="300"/>
        </pc:sldMkLst>
        <pc:spChg chg="add">
          <ac:chgData name="Srivarshitha Sriperambudur" userId="1c9aeae7aa0be767" providerId="LiveId" clId="{A5434ADC-6F97-4DC0-9F2D-0E0EC8FFB13A}" dt="2026-03-22T17:40:33.791" v="331"/>
          <ac:spMkLst>
            <pc:docMk/>
            <pc:sldMk cId="3796560694" sldId="300"/>
            <ac:spMk id="3" creationId="{E185DEAE-984F-472E-FD5D-347408F472C0}"/>
          </ac:spMkLst>
        </pc:spChg>
        <pc:picChg chg="add mod">
          <ac:chgData name="Srivarshitha Sriperambudur" userId="1c9aeae7aa0be767" providerId="LiveId" clId="{A5434ADC-6F97-4DC0-9F2D-0E0EC8FFB13A}" dt="2026-03-22T17:41:15.981" v="339" actId="1076"/>
          <ac:picMkLst>
            <pc:docMk/>
            <pc:sldMk cId="3796560694" sldId="300"/>
            <ac:picMk id="4" creationId="{E0EA1002-B743-A328-C4A1-F42AC9B4E508}"/>
          </ac:picMkLst>
        </pc:picChg>
        <pc:picChg chg="del">
          <ac:chgData name="Srivarshitha Sriperambudur" userId="1c9aeae7aa0be767" providerId="LiveId" clId="{A5434ADC-6F97-4DC0-9F2D-0E0EC8FFB13A}" dt="2026-03-22T17:40:32.533" v="330" actId="478"/>
          <ac:picMkLst>
            <pc:docMk/>
            <pc:sldMk cId="3796560694" sldId="300"/>
            <ac:picMk id="7" creationId="{DA26C689-82CF-41E4-45E5-12D20A6DCD50}"/>
          </ac:picMkLst>
        </pc:picChg>
      </pc:sldChg>
      <pc:sldChg chg="modSp mod">
        <pc:chgData name="Srivarshitha Sriperambudur" userId="1c9aeae7aa0be767" providerId="LiveId" clId="{A5434ADC-6F97-4DC0-9F2D-0E0EC8FFB13A}" dt="2026-03-21T12:56:05.121" v="329" actId="14100"/>
        <pc:sldMkLst>
          <pc:docMk/>
          <pc:sldMk cId="365383101" sldId="305"/>
        </pc:sldMkLst>
        <pc:spChg chg="mod">
          <ac:chgData name="Srivarshitha Sriperambudur" userId="1c9aeae7aa0be767" providerId="LiveId" clId="{A5434ADC-6F97-4DC0-9F2D-0E0EC8FFB13A}" dt="2026-03-21T12:56:05.121" v="329" actId="14100"/>
          <ac:spMkLst>
            <pc:docMk/>
            <pc:sldMk cId="365383101" sldId="305"/>
            <ac:spMk id="3" creationId="{00FFA1FA-BEEA-8CA0-78DC-EFC847D804AF}"/>
          </ac:spMkLst>
        </pc:spChg>
      </pc:sldChg>
      <pc:sldChg chg="new del">
        <pc:chgData name="Srivarshitha Sriperambudur" userId="1c9aeae7aa0be767" providerId="LiveId" clId="{A5434ADC-6F97-4DC0-9F2D-0E0EC8FFB13A}" dt="2026-03-21T11:57:16.743" v="186" actId="47"/>
        <pc:sldMkLst>
          <pc:docMk/>
          <pc:sldMk cId="3456430874" sldId="311"/>
        </pc:sldMkLst>
      </pc:sldChg>
      <pc:sldChg chg="addSp modSp new mod">
        <pc:chgData name="Srivarshitha Sriperambudur" userId="1c9aeae7aa0be767" providerId="LiveId" clId="{A5434ADC-6F97-4DC0-9F2D-0E0EC8FFB13A}" dt="2026-03-21T12:06:27.820" v="246" actId="13822"/>
        <pc:sldMkLst>
          <pc:docMk/>
          <pc:sldMk cId="3907416346" sldId="311"/>
        </pc:sldMkLst>
        <pc:spChg chg="add">
          <ac:chgData name="Srivarshitha Sriperambudur" userId="1c9aeae7aa0be767" providerId="LiveId" clId="{A5434ADC-6F97-4DC0-9F2D-0E0EC8FFB13A}" dt="2026-03-21T11:57:30.582" v="188"/>
          <ac:spMkLst>
            <pc:docMk/>
            <pc:sldMk cId="3907416346" sldId="311"/>
            <ac:spMk id="2" creationId="{B6675D36-0FA8-0AA6-4303-CF70CC89762B}"/>
          </ac:spMkLst>
        </pc:spChg>
        <pc:spChg chg="add mod">
          <ac:chgData name="Srivarshitha Sriperambudur" userId="1c9aeae7aa0be767" providerId="LiveId" clId="{A5434ADC-6F97-4DC0-9F2D-0E0EC8FFB13A}" dt="2026-03-21T12:02:11.321" v="232" actId="1076"/>
          <ac:spMkLst>
            <pc:docMk/>
            <pc:sldMk cId="3907416346" sldId="311"/>
            <ac:spMk id="3" creationId="{438E003D-1834-6EA1-19F0-1D6B200E97DB}"/>
          </ac:spMkLst>
        </pc:spChg>
        <pc:spChg chg="add mod">
          <ac:chgData name="Srivarshitha Sriperambudur" userId="1c9aeae7aa0be767" providerId="LiveId" clId="{A5434ADC-6F97-4DC0-9F2D-0E0EC8FFB13A}" dt="2026-03-21T12:05:35.654" v="242" actId="5793"/>
          <ac:spMkLst>
            <pc:docMk/>
            <pc:sldMk cId="3907416346" sldId="311"/>
            <ac:spMk id="4" creationId="{2B0A4F78-57A4-A3C8-1EC1-D14A70ED9ABE}"/>
          </ac:spMkLst>
        </pc:spChg>
        <pc:cxnChg chg="add mod">
          <ac:chgData name="Srivarshitha Sriperambudur" userId="1c9aeae7aa0be767" providerId="LiveId" clId="{A5434ADC-6F97-4DC0-9F2D-0E0EC8FFB13A}" dt="2026-03-21T12:06:05.006" v="244" actId="13822"/>
          <ac:cxnSpMkLst>
            <pc:docMk/>
            <pc:sldMk cId="3907416346" sldId="311"/>
            <ac:cxnSpMk id="6" creationId="{211DB5C9-969F-ABE8-AD45-44C6A0419C68}"/>
          </ac:cxnSpMkLst>
        </pc:cxnChg>
        <pc:cxnChg chg="add mod">
          <ac:chgData name="Srivarshitha Sriperambudur" userId="1c9aeae7aa0be767" providerId="LiveId" clId="{A5434ADC-6F97-4DC0-9F2D-0E0EC8FFB13A}" dt="2026-03-21T12:06:27.820" v="246" actId="13822"/>
          <ac:cxnSpMkLst>
            <pc:docMk/>
            <pc:sldMk cId="3907416346" sldId="311"/>
            <ac:cxnSpMk id="8" creationId="{98F19E2C-5951-95C1-8105-EDA84EAA753D}"/>
          </ac:cxnSpMkLst>
        </pc:cxnChg>
      </pc:sldChg>
      <pc:sldChg chg="addSp modSp new mod">
        <pc:chgData name="Srivarshitha Sriperambudur" userId="1c9aeae7aa0be767" providerId="LiveId" clId="{A5434ADC-6F97-4DC0-9F2D-0E0EC8FFB13A}" dt="2026-03-21T12:54:11.892" v="302" actId="20577"/>
        <pc:sldMkLst>
          <pc:docMk/>
          <pc:sldMk cId="2768319127" sldId="312"/>
        </pc:sldMkLst>
        <pc:spChg chg="add mod">
          <ac:chgData name="Srivarshitha Sriperambudur" userId="1c9aeae7aa0be767" providerId="LiveId" clId="{A5434ADC-6F97-4DC0-9F2D-0E0EC8FFB13A}" dt="2026-03-21T12:54:11.892" v="302" actId="20577"/>
          <ac:spMkLst>
            <pc:docMk/>
            <pc:sldMk cId="2768319127" sldId="312"/>
            <ac:spMk id="2" creationId="{8EE15225-ECC4-E5D0-8B0D-4FC0BCD06DC7}"/>
          </ac:spMkLst>
        </pc:spChg>
      </pc:sldChg>
      <pc:sldChg chg="addSp delSp modSp new mod">
        <pc:chgData name="Srivarshitha Sriperambudur" userId="1c9aeae7aa0be767" providerId="LiveId" clId="{A5434ADC-6F97-4DC0-9F2D-0E0EC8FFB13A}" dt="2026-03-21T12:55:51.691" v="328" actId="1076"/>
        <pc:sldMkLst>
          <pc:docMk/>
          <pc:sldMk cId="3637105549" sldId="313"/>
        </pc:sldMkLst>
        <pc:spChg chg="add del mod">
          <ac:chgData name="Srivarshitha Sriperambudur" userId="1c9aeae7aa0be767" providerId="LiveId" clId="{A5434ADC-6F97-4DC0-9F2D-0E0EC8FFB13A}" dt="2026-03-21T12:54:28.640" v="306"/>
          <ac:spMkLst>
            <pc:docMk/>
            <pc:sldMk cId="3637105549" sldId="313"/>
            <ac:spMk id="2" creationId="{75860FAF-66EB-5DF1-6D8C-CB0533A930A9}"/>
          </ac:spMkLst>
        </pc:spChg>
        <pc:spChg chg="add mod">
          <ac:chgData name="Srivarshitha Sriperambudur" userId="1c9aeae7aa0be767" providerId="LiveId" clId="{A5434ADC-6F97-4DC0-9F2D-0E0EC8FFB13A}" dt="2026-03-21T12:55:51.691" v="328" actId="1076"/>
          <ac:spMkLst>
            <pc:docMk/>
            <pc:sldMk cId="3637105549" sldId="313"/>
            <ac:spMk id="3" creationId="{20B7ED65-9D39-55CE-2D17-7FF30DF23B8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7066219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E9B70A-469D-459D-B21C-08237BD613C8}"/>
              </a:ext>
            </a:extLst>
          </p:cNvPr>
          <p:cNvSpPr>
            <a:spLocks noGrp="1"/>
          </p:cNvSpPr>
          <p:nvPr>
            <p:ph type="hdr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836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4177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139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611556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5721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4" name="Google Shape;294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94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 panose="02050604050505020204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cxnSp>
        <p:nvCxnSpPr>
          <p:cNvPr id="26" name="Google Shape;26;p3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 panose="02050604050505020204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68" name="Google Shape;68;p9"/>
          <p:cNvCxnSpPr/>
          <p:nvPr/>
        </p:nvCxnSpPr>
        <p:spPr>
          <a:xfrm>
            <a:off x="1207658" y="4485132"/>
            <a:ext cx="987552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Google Shape;69;p9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body" idx="2"/>
          </p:nvPr>
        </p:nvSpPr>
        <p:spPr>
          <a:xfrm>
            <a:off x="1097280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body" idx="3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4"/>
          </p:nvPr>
        </p:nvSpPr>
        <p:spPr>
          <a:xfrm>
            <a:off x="6515944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1"/>
          </p:nvPr>
        </p:nvSpPr>
        <p:spPr>
          <a:xfrm rot="5400000">
            <a:off x="4246034" y="-1040553"/>
            <a:ext cx="3760891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9" name="Google Shape;89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 panose="02050604050505020204"/>
              <a:buNone/>
              <a:defRPr sz="4700" b="0" i="0" u="none" strike="noStrike" cap="none">
                <a:solidFill>
                  <a:srgbClr val="3F3F3F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492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 panose="020F0502020204030204"/>
              <a:buChar char=" "/>
              <a:defRPr sz="1900" b="0" i="0" u="none" strike="noStrike" cap="none">
                <a:solidFill>
                  <a:srgbClr val="3F3F3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1pPr>
            <a:lvl2pPr marL="914400" marR="0" lvl="1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Calibri" panose="020F0502020204030204"/>
              <a:buChar char="◦"/>
              <a:defRPr sz="1700" b="0" i="0" u="none" strike="noStrike" cap="none">
                <a:solidFill>
                  <a:srgbClr val="3F3F3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 panose="020F0502020204030204"/>
              <a:buChar char="◦"/>
              <a:defRPr sz="1300" b="0" i="0" u="none" strike="noStrike" cap="none">
                <a:solidFill>
                  <a:srgbClr val="3F3F3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 panose="020F0502020204030204"/>
              <a:buChar char="◦"/>
              <a:defRPr sz="1300" b="0" i="0" u="none" strike="noStrike" cap="none">
                <a:solidFill>
                  <a:srgbClr val="3F3F3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 panose="020F0502020204030204"/>
              <a:buChar char="◦"/>
              <a:defRPr sz="1300" b="0" i="0" u="none" strike="noStrike" cap="none">
                <a:solidFill>
                  <a:srgbClr val="3F3F3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 panose="020F0502020204030204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rgbClr val="FFFFFF"/>
                </a:solidFill>
                <a:latin typeface="Libre Franklin" panose="00000500000000000000"/>
                <a:ea typeface="Libre Franklin" panose="00000500000000000000"/>
                <a:cs typeface="Libre Franklin" panose="00000500000000000000"/>
                <a:sym typeface="Libre Franklin" panose="00000500000000000000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cxnSp>
        <p:nvCxnSpPr>
          <p:cNvPr id="16" name="Google Shape;16;p1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/>
        </p:nvSpPr>
        <p:spPr>
          <a:xfrm>
            <a:off x="623392" y="1596475"/>
            <a:ext cx="10560916" cy="5157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 MAJOR PROJECT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NATURAL LANGUAGE TO IOT CODE GENERATOR: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Generative AI Framework for Automated ESP32 Prototyping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BACHELOR OF TECHNOLOGY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CSE- AI &amp; ML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BY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S. SRI VARSHITHA –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22VE1A6655</a:t>
            </a:r>
            <a:endParaRPr sz="18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ctr">
              <a:buSzPts val="1800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K. MAHESH              – 22VE1A6622</a:t>
            </a:r>
            <a:endParaRPr sz="18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 algn="ctr">
              <a:buSzPts val="1800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P. MANOJ                  – 22VE1A6648</a:t>
            </a:r>
            <a:endParaRPr lang="en-US" sz="18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ctr">
              <a:buSzPts val="1800"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M. YUVAN YADAV  – 22VE1A6631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of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Mrs. G. APARNA</a:t>
            </a:r>
            <a:endParaRPr lang="en-US" sz="18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IN" sz="1800" b="1" dirty="0">
                <a:solidFill>
                  <a:schemeClr val="dk1"/>
                </a:solidFill>
                <a:latin typeface="Times New Roman" panose="02020603050405020304"/>
                <a:ea typeface="Libre Franklin" panose="00000500000000000000"/>
                <a:cs typeface="Times New Roman" panose="02020603050405020304"/>
                <a:sym typeface="Times New Roman" panose="02020603050405020304"/>
              </a:rPr>
              <a:t>ACADEMIC YEAR: (2025-26)</a:t>
            </a:r>
            <a:endParaRPr sz="1800" b="0" i="0" u="none" strike="noStrike" cap="none" dirty="0">
              <a:solidFill>
                <a:schemeClr val="dk1"/>
              </a:solidFill>
              <a:latin typeface="Libre Franklin" panose="00000500000000000000"/>
              <a:ea typeface="Libre Franklin" panose="00000500000000000000"/>
              <a:cs typeface="Libre Franklin" panose="00000500000000000000"/>
              <a:sym typeface="Libre Franklin" panose="00000500000000000000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703325" y="1596475"/>
            <a:ext cx="488100" cy="5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Libre Franklin" panose="00000500000000000000"/>
              <a:ea typeface="Libre Franklin" panose="00000500000000000000"/>
              <a:cs typeface="Libre Franklin" panose="00000500000000000000"/>
              <a:sym typeface="Libre Franklin" panose="0000050000000000000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5281A5-F34B-41C1-9B5C-1AA3CC156CB9}"/>
              </a:ext>
            </a:extLst>
          </p:cNvPr>
          <p:cNvSpPr txBox="1"/>
          <p:nvPr/>
        </p:nvSpPr>
        <p:spPr>
          <a:xfrm>
            <a:off x="335360" y="188640"/>
            <a:ext cx="11521280" cy="1224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368" y="188640"/>
            <a:ext cx="11233248" cy="1407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220372"/>
            <a:ext cx="12192000" cy="74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 panose="00000500000000000000"/>
              <a:ea typeface="Libre Franklin" panose="00000500000000000000"/>
              <a:cs typeface="Libre Franklin" panose="00000500000000000000"/>
              <a:sym typeface="Libre Franklin" panose="00000500000000000000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1"/>
          </p:nvPr>
        </p:nvSpPr>
        <p:spPr>
          <a:xfrm>
            <a:off x="4952992" y="404664"/>
            <a:ext cx="6269400" cy="516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20"/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b="1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20"/>
              <a:buNone/>
            </a:pPr>
            <a:endParaRPr lang="en-US" sz="1800" b="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20"/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Abstract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ts val="2220"/>
              <a:buFont typeface="Arial" panose="020B0604020202020204"/>
              <a:buChar char="•"/>
            </a:pPr>
            <a:r>
              <a:rPr lang="en-US" sz="1800" dirty="0"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Introduction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Pts val="2220"/>
              <a:buFont typeface="Arial" panose="020B0604020202020204"/>
              <a:buChar char="•"/>
            </a:pPr>
            <a:r>
              <a:rPr lang="en-US" sz="1800" dirty="0"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Problem Statement</a:t>
            </a:r>
            <a:endParaRPr lang="en-US" sz="1800" cap="none" dirty="0">
              <a:solidFill>
                <a:schemeClr val="dk1"/>
              </a:solidFill>
              <a:latin typeface="Times New Roman" pitchFamily="18" charset="0"/>
              <a:ea typeface="Times New Roman" panose="02020603050405020304"/>
              <a:cs typeface="Times New Roman" pitchFamily="18" charset="0"/>
              <a:sym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1400"/>
              </a:spcBef>
              <a:buClrTx/>
              <a:buSzPts val="2220"/>
              <a:buFont typeface="Arial" panose="020B0604020202020204"/>
              <a:buChar char="•"/>
            </a:pPr>
            <a:r>
              <a:rPr lang="en-IN" sz="1800" dirty="0"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Objectives</a:t>
            </a:r>
          </a:p>
          <a:p>
            <a:pPr marL="342900" indent="-342900">
              <a:lnSpc>
                <a:spcPct val="100000"/>
              </a:lnSpc>
              <a:spcBef>
                <a:spcPts val="1400"/>
              </a:spcBef>
              <a:buClrTx/>
              <a:buSzPts val="2220"/>
              <a:buFont typeface="Arial" panose="020B0604020202020204"/>
              <a:buChar char="•"/>
            </a:pPr>
            <a:r>
              <a:rPr lang="en-IN" sz="1800" dirty="0"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Literature Review</a:t>
            </a:r>
          </a:p>
          <a:p>
            <a:pPr marL="342900" indent="-342900">
              <a:lnSpc>
                <a:spcPct val="100000"/>
              </a:lnSpc>
              <a:spcBef>
                <a:spcPts val="1400"/>
              </a:spcBef>
              <a:buClrTx/>
              <a:buSzPts val="2220"/>
              <a:buFont typeface="Arial" panose="020B0604020202020204"/>
              <a:buChar char="•"/>
            </a:pPr>
            <a:r>
              <a:rPr lang="en-IN" sz="1800" dirty="0">
                <a:solidFill>
                  <a:srgbClr val="000000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Proposed Methodology</a:t>
            </a:r>
          </a:p>
          <a:p>
            <a:pPr marL="342900" indent="-342900">
              <a:lnSpc>
                <a:spcPct val="100000"/>
              </a:lnSpc>
              <a:spcBef>
                <a:spcPts val="1400"/>
              </a:spcBef>
              <a:buClrTx/>
              <a:buSzPts val="2220"/>
              <a:buFont typeface="Arial" panose="020B0604020202020204"/>
              <a:buChar char="•"/>
            </a:pPr>
            <a:r>
              <a:rPr lang="en-IN" sz="1800" dirty="0">
                <a:solidFill>
                  <a:srgbClr val="000000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System Architecture</a:t>
            </a:r>
          </a:p>
          <a:p>
            <a:pPr marL="342900" indent="-342900">
              <a:lnSpc>
                <a:spcPct val="100000"/>
              </a:lnSpc>
              <a:spcBef>
                <a:spcPts val="1400"/>
              </a:spcBef>
              <a:buClrTx/>
              <a:buSzPts val="2220"/>
              <a:buFont typeface="Arial" panose="020B0604020202020204"/>
              <a:buChar char="•"/>
            </a:pPr>
            <a:r>
              <a:rPr lang="en-IN" sz="1800" dirty="0">
                <a:solidFill>
                  <a:srgbClr val="000000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Implementation Details</a:t>
            </a:r>
          </a:p>
          <a:p>
            <a:pPr marL="342900" indent="-342900">
              <a:lnSpc>
                <a:spcPct val="100000"/>
              </a:lnSpc>
              <a:spcBef>
                <a:spcPts val="1400"/>
              </a:spcBef>
              <a:buClrTx/>
              <a:buSzPts val="2220"/>
              <a:buFont typeface="Arial" panose="020B0604020202020204"/>
              <a:buChar char="•"/>
            </a:pPr>
            <a:r>
              <a:rPr lang="en-IN" sz="1800" dirty="0">
                <a:solidFill>
                  <a:srgbClr val="000000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Results and Analysis</a:t>
            </a:r>
          </a:p>
          <a:p>
            <a:pPr marL="342900" indent="-342900">
              <a:lnSpc>
                <a:spcPct val="100000"/>
              </a:lnSpc>
              <a:spcBef>
                <a:spcPts val="1400"/>
              </a:spcBef>
              <a:buClrTx/>
              <a:buSzPts val="2220"/>
              <a:buFont typeface="Arial" panose="020B0604020202020204"/>
              <a:buChar char="•"/>
            </a:pPr>
            <a:r>
              <a:rPr lang="en-IN" sz="1800" dirty="0">
                <a:solidFill>
                  <a:srgbClr val="000000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Applications and Advantages</a:t>
            </a:r>
          </a:p>
          <a:p>
            <a:pPr marL="342900" indent="-342900">
              <a:lnSpc>
                <a:spcPct val="100000"/>
              </a:lnSpc>
              <a:spcBef>
                <a:spcPts val="1400"/>
              </a:spcBef>
              <a:buClrTx/>
              <a:buSzPts val="2220"/>
              <a:buFont typeface="Arial" panose="020B0604020202020204"/>
              <a:buChar char="•"/>
            </a:pPr>
            <a:r>
              <a:rPr lang="en-IN" sz="1800" dirty="0">
                <a:solidFill>
                  <a:srgbClr val="000000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Conclusion and Future Scope</a:t>
            </a:r>
          </a:p>
          <a:p>
            <a:pPr marL="342900" indent="-342900">
              <a:lnSpc>
                <a:spcPct val="100000"/>
              </a:lnSpc>
              <a:spcBef>
                <a:spcPts val="1400"/>
              </a:spcBef>
              <a:buClrTx/>
              <a:buSzPts val="2220"/>
              <a:buFont typeface="Arial" panose="020B0604020202020204"/>
              <a:buChar char="•"/>
            </a:pPr>
            <a:r>
              <a:rPr lang="en-IN" sz="1800" dirty="0">
                <a:solidFill>
                  <a:srgbClr val="000000"/>
                </a:solidFill>
                <a:latin typeface="Times New Roman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References</a:t>
            </a:r>
            <a:endParaRPr sz="1800" dirty="0">
              <a:latin typeface="Times New Roman" pitchFamily="18" charset="0"/>
              <a:ea typeface="Times New Roman" panose="02020603050405020304"/>
              <a:cs typeface="Times New Roman" pitchFamily="18" charset="0"/>
              <a:sym typeface="Times New Roman" panose="02020603050405020304"/>
            </a:endParaRPr>
          </a:p>
          <a:p>
            <a:pPr marL="342900" lvl="0" indent="-342900" algn="l" rtl="0">
              <a:lnSpc>
                <a:spcPct val="40000"/>
              </a:lnSpc>
              <a:spcBef>
                <a:spcPts val="1400"/>
              </a:spcBef>
              <a:spcAft>
                <a:spcPts val="0"/>
              </a:spcAft>
              <a:buSzPts val="2220"/>
              <a:buNone/>
            </a:pPr>
            <a:endParaRPr sz="1800" dirty="0">
              <a:solidFill>
                <a:schemeClr val="dk1"/>
              </a:solidFill>
              <a:latin typeface="Times New Roman" pitchFamily="18" charset="0"/>
              <a:ea typeface="Times New Roman" panose="02020603050405020304"/>
              <a:cs typeface="Times New Roman" pitchFamily="18" charset="0"/>
              <a:sym typeface="Times New Roman" panose="02020603050405020304"/>
            </a:endParaRPr>
          </a:p>
          <a:p>
            <a:pPr marL="0" lvl="0" indent="0" algn="l" rtl="0">
              <a:lnSpc>
                <a:spcPct val="4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endParaRPr sz="1800" dirty="0">
              <a:solidFill>
                <a:schemeClr val="dk1"/>
              </a:solidFill>
              <a:latin typeface="Times New Roman" pitchFamily="18" charset="0"/>
              <a:ea typeface="Times New Roman" panose="02020603050405020304"/>
              <a:cs typeface="Times New Roman" pitchFamily="18" charset="0"/>
              <a:sym typeface="Times New Roman" panose="02020603050405020304"/>
            </a:endParaRPr>
          </a:p>
          <a:p>
            <a:pPr marL="342900" lvl="0" indent="-201930" algn="l" rtl="0">
              <a:lnSpc>
                <a:spcPct val="40000"/>
              </a:lnSpc>
              <a:spcBef>
                <a:spcPts val="1400"/>
              </a:spcBef>
              <a:spcAft>
                <a:spcPts val="0"/>
              </a:spcAft>
              <a:buSzPts val="2220"/>
              <a:buFont typeface="Arial" panose="020B0604020202020204"/>
              <a:buNone/>
            </a:pPr>
            <a:endParaRPr sz="1800" cap="none" dirty="0">
              <a:solidFill>
                <a:schemeClr val="dk1"/>
              </a:solidFill>
              <a:latin typeface="Times New Roman" pitchFamily="18" charset="0"/>
              <a:ea typeface="Times New Roman" panose="02020603050405020304"/>
              <a:cs typeface="Times New Roman" pitchFamily="18" charset="0"/>
              <a:sym typeface="Times New Roman" panose="02020603050405020304"/>
            </a:endParaRPr>
          </a:p>
          <a:p>
            <a:pPr marL="342900" lvl="0" indent="-201930" algn="l" rtl="0">
              <a:lnSpc>
                <a:spcPct val="40000"/>
              </a:lnSpc>
              <a:spcBef>
                <a:spcPts val="1400"/>
              </a:spcBef>
              <a:spcAft>
                <a:spcPts val="0"/>
              </a:spcAft>
              <a:buSzPts val="2220"/>
              <a:buFont typeface="Arial" panose="020B0604020202020204"/>
              <a:buNone/>
            </a:pPr>
            <a:endParaRPr sz="1800" cap="none" dirty="0">
              <a:solidFill>
                <a:schemeClr val="dk1"/>
              </a:solidFill>
              <a:latin typeface="Times New Roman" pitchFamily="18" charset="0"/>
              <a:ea typeface="Times New Roman" panose="02020603050405020304"/>
              <a:cs typeface="Times New Roman" pitchFamily="18" charset="0"/>
              <a:sym typeface="Times New Roman" panose="02020603050405020304"/>
            </a:endParaRPr>
          </a:p>
        </p:txBody>
      </p:sp>
      <p:pic>
        <p:nvPicPr>
          <p:cNvPr id="108" name="Google Shape;108;p14" descr="A picture containing building, sitting, bench, side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-1" y="71463"/>
            <a:ext cx="4150845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 panose="02050604050505020204"/>
              <a:buNone/>
            </a:pPr>
            <a:r>
              <a:rPr lang="en-US" dirty="0"/>
              <a:t>Abstract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1"/>
          </p:nvPr>
        </p:nvSpPr>
        <p:spPr>
          <a:xfrm>
            <a:off x="376550" y="1844824"/>
            <a:ext cx="11364000" cy="4562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377190" indent="-285750" algn="just">
              <a:spcBef>
                <a:spcPts val="1400"/>
              </a:spcBef>
              <a:buSzPts val="22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Natural Language to IoT Code Generator project enables users to build IoT prototypes simply by describing their ideas in plain English.</a:t>
            </a:r>
          </a:p>
          <a:p>
            <a:pPr marL="377190" indent="-285750" algn="just">
              <a:spcBef>
                <a:spcPts val="1400"/>
              </a:spcBef>
              <a:buSzPts val="22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uses Generative AI and Large Language Models (LLMs) to convert natural language instructions into Arduino-compatible ESP32 code.</a:t>
            </a:r>
          </a:p>
          <a:p>
            <a:pPr marL="377190" indent="-285750" algn="just">
              <a:spcBef>
                <a:spcPts val="1400"/>
              </a:spcBef>
              <a:buSzPts val="22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identifies sensors, actuators, and required connections to generate ready-to-deploy code with wiring guidance.</a:t>
            </a:r>
          </a:p>
          <a:p>
            <a:pPr marL="377190" indent="-285750" algn="just">
              <a:spcBef>
                <a:spcPts val="1400"/>
              </a:spcBef>
              <a:buSzPts val="22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supports common IoT applications such as smart irrigation, environmental monitoring, and home automation.</a:t>
            </a:r>
          </a:p>
          <a:p>
            <a:pPr marL="377190" indent="-285750" algn="just">
              <a:spcBef>
                <a:spcPts val="1400"/>
              </a:spcBef>
              <a:buSzPts val="22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evaluation compares AI-generated code vs manually written code in terms of correctness, execution efficiency, and user-friendliness.</a:t>
            </a:r>
          </a:p>
          <a:p>
            <a:pPr marL="377190" indent="-285750" algn="just">
              <a:spcBef>
                <a:spcPts val="1400"/>
              </a:spcBef>
              <a:buSzPts val="22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work aims to democratize IoT development by enabling non-programmers to prototype intelligent systems quickly using natural language.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 panose="02050604050505020204"/>
              <a:buNone/>
            </a:pPr>
            <a:r>
              <a:rPr lang="en-US" dirty="0"/>
              <a:t>Introduction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1"/>
          </p:nvPr>
        </p:nvSpPr>
        <p:spPr>
          <a:xfrm>
            <a:off x="376550" y="2132856"/>
            <a:ext cx="11364000" cy="4274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Internet of Things (IoT) is changing industries like agriculture, healthcare, and smart homes through automation and real-time monitoring.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building IoT systems requires programming skills, circuit knowledge, and hardware setup experience.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challenges for beginners and non-technical users.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Although platforms like Arduino IDE and Node-RED help simplify development, they still require manual coding and configuration.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advancements in Generative AI, it is now possible to generate code automatically from natural language instructions.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project, Natural Language to IoT Code Generator, converts plain English commands into ready-to-use ESP32 code with wiring instructions, making IoT development easier and faster.</a:t>
            </a:r>
          </a:p>
          <a:p>
            <a:pPr marL="377190" indent="-285750" algn="just">
              <a:spcBef>
                <a:spcPts val="1400"/>
              </a:spcBef>
              <a:buSzPts val="2200"/>
              <a:buFont typeface="Wingdings" panose="05000000000000000000" pitchFamily="2" charset="2"/>
              <a:buChar char="§"/>
            </a:pP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0" indent="-342900">
              <a:lnSpc>
                <a:spcPct val="100000"/>
              </a:lnSpc>
              <a:spcBef>
                <a:spcPts val="1400"/>
              </a:spcBef>
            </a:pPr>
            <a:r>
              <a:rPr lang="en-US" dirty="0">
                <a:latin typeface="Bookman Old Style" panose="02050604050505020204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Problem Statement</a:t>
            </a: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Times New Roman" panose="02020603050405020304"/>
              <a:cs typeface="Times New Roman" pitchFamily="18" charset="0"/>
              <a:sym typeface="Times New Roman" panose="020206030504050203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376" y="2108201"/>
            <a:ext cx="10676304" cy="3760891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functional IoT prototypes requires programming skills, hardware knowledge, and circuit design expertise, which many non-engineers lack.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Translating real-world ideas into working IoT solutions is time-consuming and error-prone for users without a technical background.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like Arduino IDE, Node-RED, or Blynk simplify coding but still demand manual setup and technical intervention.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no user-friendly system that allows natural language input to generate ESP32-compatible code with wiring instructions directly.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limitation prevents rapid prototyping, restricts the adoption of IoT technology among non-technical users, and hinders innovation.</a:t>
            </a:r>
          </a:p>
        </p:txBody>
      </p:sp>
    </p:spTree>
    <p:extLst>
      <p:ext uri="{BB962C8B-B14F-4D97-AF65-F5344CB8AC3E}">
        <p14:creationId xmlns:p14="http://schemas.microsoft.com/office/powerpoint/2010/main" val="2304189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400"/>
              </a:spcBef>
            </a:pPr>
            <a:r>
              <a:rPr lang="en-IN" dirty="0">
                <a:latin typeface="Bookman Old Style" panose="02050604050505020204" pitchFamily="18" charset="0"/>
                <a:ea typeface="Times New Roman" panose="02020603050405020304"/>
                <a:cs typeface="Times New Roman" pitchFamily="18" charset="0"/>
                <a:sym typeface="Times New Roman" panose="02020603050405020304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A84007-5A88-A2FB-13FC-877CAD6FB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5325" y="2274838"/>
            <a:ext cx="1046035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IoT Code Generation: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 generative AI framework that converts natural language IoT tasks into executable ESP32 Arduino code with automatic wiring instructions.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Validation &amp; Application Support: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 core IoT functions like sensing, actuation, data logging, and alerts, while validating AI-generated code on real ESP32 hardware for accuracy and reliability.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User-Centric Innovation: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Empower non-technical users to rapidly prototype IoT systems, simplifying development and promoting faster IoT adoption.</a:t>
            </a:r>
          </a:p>
        </p:txBody>
      </p:sp>
    </p:spTree>
    <p:extLst>
      <p:ext uri="{BB962C8B-B14F-4D97-AF65-F5344CB8AC3E}">
        <p14:creationId xmlns:p14="http://schemas.microsoft.com/office/powerpoint/2010/main" val="3644787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630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 panose="02050604050505020204"/>
              <a:buNone/>
            </a:pPr>
            <a:r>
              <a:rPr lang="en-US" dirty="0"/>
              <a:t>Literature Survey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1"/>
          </p:nvPr>
        </p:nvSpPr>
        <p:spPr>
          <a:xfrm>
            <a:off x="263352" y="1359974"/>
            <a:ext cx="11364000" cy="44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91440" lvl="0" indent="0" algn="just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endParaRPr lang="en-IN" sz="1800" dirty="0"/>
          </a:p>
          <a:p>
            <a:pPr marL="91440" lvl="0" indent="0" algn="just" rtl="0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endParaRPr lang="en-IN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67D142-E1A0-4AFF-D091-2316D300D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848046"/>
              </p:ext>
            </p:extLst>
          </p:nvPr>
        </p:nvGraphicFramePr>
        <p:xfrm>
          <a:off x="1097280" y="2132856"/>
          <a:ext cx="10059013" cy="387724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82587">
                  <a:extLst>
                    <a:ext uri="{9D8B030D-6E8A-4147-A177-3AD203B41FA5}">
                      <a16:colId xmlns:a16="http://schemas.microsoft.com/office/drawing/2014/main" val="429147351"/>
                    </a:ext>
                  </a:extLst>
                </a:gridCol>
                <a:gridCol w="1987184">
                  <a:extLst>
                    <a:ext uri="{9D8B030D-6E8A-4147-A177-3AD203B41FA5}">
                      <a16:colId xmlns:a16="http://schemas.microsoft.com/office/drawing/2014/main" val="1076727807"/>
                    </a:ext>
                  </a:extLst>
                </a:gridCol>
                <a:gridCol w="1248207">
                  <a:extLst>
                    <a:ext uri="{9D8B030D-6E8A-4147-A177-3AD203B41FA5}">
                      <a16:colId xmlns:a16="http://schemas.microsoft.com/office/drawing/2014/main" val="3766362021"/>
                    </a:ext>
                  </a:extLst>
                </a:gridCol>
                <a:gridCol w="1248207">
                  <a:extLst>
                    <a:ext uri="{9D8B030D-6E8A-4147-A177-3AD203B41FA5}">
                      <a16:colId xmlns:a16="http://schemas.microsoft.com/office/drawing/2014/main" val="320585298"/>
                    </a:ext>
                  </a:extLst>
                </a:gridCol>
                <a:gridCol w="1248207">
                  <a:extLst>
                    <a:ext uri="{9D8B030D-6E8A-4147-A177-3AD203B41FA5}">
                      <a16:colId xmlns:a16="http://schemas.microsoft.com/office/drawing/2014/main" val="2817204604"/>
                    </a:ext>
                  </a:extLst>
                </a:gridCol>
                <a:gridCol w="1248207">
                  <a:extLst>
                    <a:ext uri="{9D8B030D-6E8A-4147-A177-3AD203B41FA5}">
                      <a16:colId xmlns:a16="http://schemas.microsoft.com/office/drawing/2014/main" val="1975384953"/>
                    </a:ext>
                  </a:extLst>
                </a:gridCol>
                <a:gridCol w="1248207">
                  <a:extLst>
                    <a:ext uri="{9D8B030D-6E8A-4147-A177-3AD203B41FA5}">
                      <a16:colId xmlns:a16="http://schemas.microsoft.com/office/drawing/2014/main" val="1814867594"/>
                    </a:ext>
                  </a:extLst>
                </a:gridCol>
                <a:gridCol w="1248207">
                  <a:extLst>
                    <a:ext uri="{9D8B030D-6E8A-4147-A177-3AD203B41FA5}">
                      <a16:colId xmlns:a16="http://schemas.microsoft.com/office/drawing/2014/main" val="3948753899"/>
                    </a:ext>
                  </a:extLst>
                </a:gridCol>
              </a:tblGrid>
              <a:tr h="78352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 err="1">
                          <a:effectLst/>
                        </a:rPr>
                        <a:t>S.No</a:t>
                      </a:r>
                      <a:endParaRPr lang="en-US" sz="1600" b="1" dirty="0">
                        <a:effectLst/>
                      </a:endParaRPr>
                    </a:p>
                  </a:txBody>
                  <a:tcPr marL="31737" marR="31737" marT="31737" marB="31737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Paper Title</a:t>
                      </a:r>
                    </a:p>
                  </a:txBody>
                  <a:tcPr marL="31737" marR="31737" marT="31737" marB="31737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Author(s)</a:t>
                      </a:r>
                    </a:p>
                  </a:txBody>
                  <a:tcPr marL="31737" marR="31737" marT="31737" marB="31737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Journal/Conference</a:t>
                      </a:r>
                    </a:p>
                  </a:txBody>
                  <a:tcPr marL="31737" marR="31737" marT="31737" marB="31737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Algorithm Used</a:t>
                      </a:r>
                    </a:p>
                  </a:txBody>
                  <a:tcPr marL="31737" marR="31737" marT="31737" marB="31737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Results Obtained</a:t>
                      </a:r>
                    </a:p>
                  </a:txBody>
                  <a:tcPr marL="31737" marR="31737" marT="31737" marB="31737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Evaluation Parameters Considered</a:t>
                      </a:r>
                    </a:p>
                  </a:txBody>
                  <a:tcPr marL="31737" marR="31737" marT="31737" marB="31737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Comments</a:t>
                      </a:r>
                    </a:p>
                  </a:txBody>
                  <a:tcPr marL="31737" marR="31737" marT="31737" marB="31737"/>
                </a:tc>
                <a:extLst>
                  <a:ext uri="{0D108BD9-81ED-4DB2-BD59-A6C34878D82A}">
                    <a16:rowId xmlns:a16="http://schemas.microsoft.com/office/drawing/2014/main" val="4027444027"/>
                  </a:ext>
                </a:extLst>
              </a:tr>
              <a:tr h="1729174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31737" marR="31737" marT="23802" marB="2380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Integrating Large Language Models with Internet of Things Applications</a:t>
                      </a:r>
                    </a:p>
                  </a:txBody>
                  <a:tcPr marL="31737" marR="31737" marT="23802" marB="2380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Zong, M. et al.</a:t>
                      </a:r>
                    </a:p>
                  </a:txBody>
                  <a:tcPr marL="31737" marR="31737" marT="23802" marB="2380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Discover IoT (Springer), 2025</a:t>
                      </a:r>
                    </a:p>
                  </a:txBody>
                  <a:tcPr marL="31737" marR="31737" marT="23802" marB="2380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LLM (GPT), Macroprogramming</a:t>
                      </a:r>
                    </a:p>
                  </a:txBody>
                  <a:tcPr marL="31737" marR="31737" marT="23802" marB="2380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Achieves 94.9% DDoS detection; efficient macroprogramming and sensor data processing</a:t>
                      </a:r>
                    </a:p>
                  </a:txBody>
                  <a:tcPr marL="31737" marR="31737" marT="23802" marB="2380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Detection accuracy, reliability, usability</a:t>
                      </a:r>
                    </a:p>
                  </a:txBody>
                  <a:tcPr marL="31737" marR="31737" marT="23802" marB="2380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Demonstrates NL-to-IoT-code, advanced </a:t>
                      </a:r>
                      <a:r>
                        <a:rPr lang="en-US" sz="1400" dirty="0" err="1">
                          <a:effectLst/>
                        </a:rPr>
                        <a:t>macroprogramming</a:t>
                      </a:r>
                      <a:r>
                        <a:rPr lang="en-US" sz="1400" dirty="0">
                          <a:effectLst/>
                        </a:rPr>
                        <a:t> ​</a:t>
                      </a:r>
                    </a:p>
                  </a:txBody>
                  <a:tcPr marL="31737" marR="31737" marT="23802" marB="23802" anchor="ctr"/>
                </a:tc>
                <a:extLst>
                  <a:ext uri="{0D108BD9-81ED-4DB2-BD59-A6C34878D82A}">
                    <a16:rowId xmlns:a16="http://schemas.microsoft.com/office/drawing/2014/main" val="2368269540"/>
                  </a:ext>
                </a:extLst>
              </a:tr>
              <a:tr h="130861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31737" marR="31737" marT="23802" marB="2380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Programming Embedded IoT Applications in Natural Language</a:t>
                      </a:r>
                    </a:p>
                  </a:txBody>
                  <a:tcPr marL="31737" marR="31737" marT="23802" marB="2380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Wang, X. et al.</a:t>
                      </a:r>
                    </a:p>
                  </a:txBody>
                  <a:tcPr marL="31737" marR="31737" marT="23802" marB="2380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ACM, 2024</a:t>
                      </a:r>
                    </a:p>
                  </a:txBody>
                  <a:tcPr marL="31737" marR="31737" marT="23802" marB="2380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LLM-based methods</a:t>
                      </a:r>
                    </a:p>
                  </a:txBody>
                  <a:tcPr marL="31737" marR="31737" marT="23802" marB="2380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Converts NL to IoT code, simplifies development</a:t>
                      </a:r>
                    </a:p>
                  </a:txBody>
                  <a:tcPr marL="31737" marR="31737" marT="23802" marB="2380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Code generation quality, usability, development time</a:t>
                      </a:r>
                    </a:p>
                  </a:txBody>
                  <a:tcPr marL="31737" marR="31737" marT="23802" marB="23802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Validates LLM-driven code synthesis for IoT ​</a:t>
                      </a:r>
                    </a:p>
                  </a:txBody>
                  <a:tcPr marL="31737" marR="31737" marT="23802" marB="23802" anchor="ctr"/>
                </a:tc>
                <a:extLst>
                  <a:ext uri="{0D108BD9-81ED-4DB2-BD59-A6C34878D82A}">
                    <a16:rowId xmlns:a16="http://schemas.microsoft.com/office/drawing/2014/main" val="36720112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B5F7E7-8496-8A6D-014C-5A771E900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72871"/>
              </p:ext>
            </p:extLst>
          </p:nvPr>
        </p:nvGraphicFramePr>
        <p:xfrm>
          <a:off x="695400" y="1148367"/>
          <a:ext cx="10513168" cy="491150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322985937"/>
                    </a:ext>
                  </a:extLst>
                </a:gridCol>
                <a:gridCol w="1980220">
                  <a:extLst>
                    <a:ext uri="{9D8B030D-6E8A-4147-A177-3AD203B41FA5}">
                      <a16:colId xmlns:a16="http://schemas.microsoft.com/office/drawing/2014/main" val="3591133619"/>
                    </a:ext>
                  </a:extLst>
                </a:gridCol>
                <a:gridCol w="1314146">
                  <a:extLst>
                    <a:ext uri="{9D8B030D-6E8A-4147-A177-3AD203B41FA5}">
                      <a16:colId xmlns:a16="http://schemas.microsoft.com/office/drawing/2014/main" val="475269779"/>
                    </a:ext>
                  </a:extLst>
                </a:gridCol>
                <a:gridCol w="1314146">
                  <a:extLst>
                    <a:ext uri="{9D8B030D-6E8A-4147-A177-3AD203B41FA5}">
                      <a16:colId xmlns:a16="http://schemas.microsoft.com/office/drawing/2014/main" val="2485450876"/>
                    </a:ext>
                  </a:extLst>
                </a:gridCol>
                <a:gridCol w="1314146">
                  <a:extLst>
                    <a:ext uri="{9D8B030D-6E8A-4147-A177-3AD203B41FA5}">
                      <a16:colId xmlns:a16="http://schemas.microsoft.com/office/drawing/2014/main" val="1179755208"/>
                    </a:ext>
                  </a:extLst>
                </a:gridCol>
                <a:gridCol w="1314146">
                  <a:extLst>
                    <a:ext uri="{9D8B030D-6E8A-4147-A177-3AD203B41FA5}">
                      <a16:colId xmlns:a16="http://schemas.microsoft.com/office/drawing/2014/main" val="4080783239"/>
                    </a:ext>
                  </a:extLst>
                </a:gridCol>
                <a:gridCol w="1314146">
                  <a:extLst>
                    <a:ext uri="{9D8B030D-6E8A-4147-A177-3AD203B41FA5}">
                      <a16:colId xmlns:a16="http://schemas.microsoft.com/office/drawing/2014/main" val="3722659757"/>
                    </a:ext>
                  </a:extLst>
                </a:gridCol>
                <a:gridCol w="1314146">
                  <a:extLst>
                    <a:ext uri="{9D8B030D-6E8A-4147-A177-3AD203B41FA5}">
                      <a16:colId xmlns:a16="http://schemas.microsoft.com/office/drawing/2014/main" val="1751036030"/>
                    </a:ext>
                  </a:extLst>
                </a:gridCol>
              </a:tblGrid>
              <a:tr h="375272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>
                          <a:effectLst/>
                        </a:rPr>
                        <a:t>S.No.</a:t>
                      </a:r>
                    </a:p>
                  </a:txBody>
                  <a:tcPr marL="15769" marR="15769" marT="15769" marB="15769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>
                          <a:effectLst/>
                        </a:rPr>
                        <a:t>Paper Title</a:t>
                      </a:r>
                    </a:p>
                  </a:txBody>
                  <a:tcPr marL="15769" marR="15769" marT="15769" marB="15769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>
                          <a:effectLst/>
                        </a:rPr>
                        <a:t>Author(s)</a:t>
                      </a:r>
                    </a:p>
                  </a:txBody>
                  <a:tcPr marL="15769" marR="15769" marT="15769" marB="15769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>
                          <a:effectLst/>
                        </a:rPr>
                        <a:t>Journal/Conference</a:t>
                      </a:r>
                    </a:p>
                  </a:txBody>
                  <a:tcPr marL="15769" marR="15769" marT="15769" marB="15769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Algorithm Used</a:t>
                      </a:r>
                    </a:p>
                  </a:txBody>
                  <a:tcPr marL="15769" marR="15769" marT="15769" marB="15769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>
                          <a:effectLst/>
                        </a:rPr>
                        <a:t>Results Obtained</a:t>
                      </a:r>
                    </a:p>
                  </a:txBody>
                  <a:tcPr marL="15769" marR="15769" marT="15769" marB="15769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>
                          <a:effectLst/>
                        </a:rPr>
                        <a:t>Evaluation Parameters Considered</a:t>
                      </a:r>
                    </a:p>
                  </a:txBody>
                  <a:tcPr marL="15769" marR="15769" marT="15769" marB="15769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Comments</a:t>
                      </a:r>
                    </a:p>
                  </a:txBody>
                  <a:tcPr marL="15769" marR="15769" marT="15769" marB="15769"/>
                </a:tc>
                <a:extLst>
                  <a:ext uri="{0D108BD9-81ED-4DB2-BD59-A6C34878D82A}">
                    <a16:rowId xmlns:a16="http://schemas.microsoft.com/office/drawing/2014/main" val="4000717714"/>
                  </a:ext>
                </a:extLst>
              </a:tr>
              <a:tr h="50036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3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Automated IoT Platform Using Large Language Models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Cheng, Y. et al.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IEEE, 2024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LLM, AutoIoT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Automates IoT app/code generation from user requests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Code correctness, automation effectiveness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Custom LLM-generated deployment for IoT ​</a:t>
                      </a:r>
                    </a:p>
                  </a:txBody>
                  <a:tcPr marL="15769" marR="15769" marT="11826" marB="11826" anchor="ctr"/>
                </a:tc>
                <a:extLst>
                  <a:ext uri="{0D108BD9-81ED-4DB2-BD59-A6C34878D82A}">
                    <a16:rowId xmlns:a16="http://schemas.microsoft.com/office/drawing/2014/main" val="1970444596"/>
                  </a:ext>
                </a:extLst>
              </a:tr>
              <a:tr h="635075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 err="1">
                          <a:effectLst/>
                        </a:rPr>
                        <a:t>ChatIoT</a:t>
                      </a:r>
                      <a:r>
                        <a:rPr lang="en-US" sz="1400" dirty="0">
                          <a:effectLst/>
                        </a:rPr>
                        <a:t>: Zero-code Generation of Trigger-action Based IoT Applications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Patel, A. et al.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ACM, 2025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LLMs (ChatGPT, etc.), TAP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NL-driven prototyping, zero-code IoT solutions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Usability, correctness, deployment speed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Enables NL-to-IoT workflows ​</a:t>
                      </a:r>
                    </a:p>
                  </a:txBody>
                  <a:tcPr marL="15769" marR="15769" marT="11826" marB="11826" anchor="ctr"/>
                </a:tc>
                <a:extLst>
                  <a:ext uri="{0D108BD9-81ED-4DB2-BD59-A6C34878D82A}">
                    <a16:rowId xmlns:a16="http://schemas.microsoft.com/office/drawing/2014/main" val="2566700577"/>
                  </a:ext>
                </a:extLst>
              </a:tr>
              <a:tr h="635075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AutoIOT: LLM-Driven Automated Natural Language Programming for AIoT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Shen, L. et al.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 err="1">
                          <a:effectLst/>
                        </a:rPr>
                        <a:t>arXiv</a:t>
                      </a:r>
                      <a:r>
                        <a:rPr lang="en-US" sz="1400" dirty="0">
                          <a:effectLst/>
                        </a:rPr>
                        <a:t>, 2025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LLM-based synthesis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NL-to-AIoT interpretable programs, matches manual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Synthesis quality, explainability, satisfaction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Strong privacy, explainability, and NL-to-code ​</a:t>
                      </a:r>
                    </a:p>
                  </a:txBody>
                  <a:tcPr marL="15769" marR="15769" marT="11826" marB="11826" anchor="ctr"/>
                </a:tc>
                <a:extLst>
                  <a:ext uri="{0D108BD9-81ED-4DB2-BD59-A6C34878D82A}">
                    <a16:rowId xmlns:a16="http://schemas.microsoft.com/office/drawing/2014/main" val="3545214507"/>
                  </a:ext>
                </a:extLst>
              </a:tr>
              <a:tr h="1039213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6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Generative Language Model Technology Integrated into an IoT Device for the Development of a Voice Assistant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Ricardo Yauri,</a:t>
                      </a:r>
                    </a:p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et al.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WSEAS Transactions on Computers, 2024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Generative LLM, ChatGPT integration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Real-time ChatGPT-based IoT device with ESP32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NL processing, speech synthesis, system usability</a:t>
                      </a:r>
                    </a:p>
                  </a:txBody>
                  <a:tcPr marL="15769" marR="15769" marT="11826" marB="11826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Real-time, scalable NL interface on ESP32 ​</a:t>
                      </a:r>
                    </a:p>
                  </a:txBody>
                  <a:tcPr marL="15769" marR="15769" marT="11826" marB="11826" anchor="ctr"/>
                </a:tc>
                <a:extLst>
                  <a:ext uri="{0D108BD9-81ED-4DB2-BD59-A6C34878D82A}">
                    <a16:rowId xmlns:a16="http://schemas.microsoft.com/office/drawing/2014/main" val="35435269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AF3BFD3-784E-2D1A-2B53-079893B65172}"/>
              </a:ext>
            </a:extLst>
          </p:cNvPr>
          <p:cNvSpPr txBox="1"/>
          <p:nvPr/>
        </p:nvSpPr>
        <p:spPr>
          <a:xfrm>
            <a:off x="551384" y="151251"/>
            <a:ext cx="5832648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47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Bookman Old Style" panose="02050604050505020204" pitchFamily="18" charset="0"/>
                <a:cs typeface="Arial" panose="020B0604020202020204"/>
                <a:sym typeface="Arial" panose="020B0604020202020204"/>
              </a:rPr>
              <a:t>Literature Survey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216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C783E8-745B-19BE-8072-A3AD7E8CF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54677"/>
              </p:ext>
            </p:extLst>
          </p:nvPr>
        </p:nvGraphicFramePr>
        <p:xfrm>
          <a:off x="983432" y="1196752"/>
          <a:ext cx="10369152" cy="496855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667777942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4210644282"/>
                    </a:ext>
                  </a:extLst>
                </a:gridCol>
                <a:gridCol w="1341966">
                  <a:extLst>
                    <a:ext uri="{9D8B030D-6E8A-4147-A177-3AD203B41FA5}">
                      <a16:colId xmlns:a16="http://schemas.microsoft.com/office/drawing/2014/main" val="2161938236"/>
                    </a:ext>
                  </a:extLst>
                </a:gridCol>
                <a:gridCol w="1272578">
                  <a:extLst>
                    <a:ext uri="{9D8B030D-6E8A-4147-A177-3AD203B41FA5}">
                      <a16:colId xmlns:a16="http://schemas.microsoft.com/office/drawing/2014/main" val="4088175127"/>
                    </a:ext>
                  </a:extLst>
                </a:gridCol>
                <a:gridCol w="1201880">
                  <a:extLst>
                    <a:ext uri="{9D8B030D-6E8A-4147-A177-3AD203B41FA5}">
                      <a16:colId xmlns:a16="http://schemas.microsoft.com/office/drawing/2014/main" val="3274083625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486486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13320112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457873792"/>
                    </a:ext>
                  </a:extLst>
                </a:gridCol>
              </a:tblGrid>
              <a:tr h="784509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 err="1">
                          <a:effectLst/>
                        </a:rPr>
                        <a:t>S.No</a:t>
                      </a:r>
                      <a:r>
                        <a:rPr lang="en-US" sz="1600" b="1" dirty="0">
                          <a:effectLst/>
                        </a:rPr>
                        <a:t>.</a:t>
                      </a:r>
                    </a:p>
                  </a:txBody>
                  <a:tcPr marL="10980" marR="10980" marT="10980" marB="1098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Paper Title</a:t>
                      </a:r>
                    </a:p>
                  </a:txBody>
                  <a:tcPr marL="10980" marR="10980" marT="10980" marB="1098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Author(s)</a:t>
                      </a:r>
                    </a:p>
                  </a:txBody>
                  <a:tcPr marL="10980" marR="10980" marT="10980" marB="1098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Journal/Conference</a:t>
                      </a:r>
                    </a:p>
                  </a:txBody>
                  <a:tcPr marL="10980" marR="10980" marT="10980" marB="1098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Algorithm Used</a:t>
                      </a:r>
                    </a:p>
                  </a:txBody>
                  <a:tcPr marL="10980" marR="10980" marT="10980" marB="1098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Results Obtained</a:t>
                      </a:r>
                    </a:p>
                  </a:txBody>
                  <a:tcPr marL="10980" marR="10980" marT="10980" marB="1098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Evaluation Parameters Considered</a:t>
                      </a:r>
                    </a:p>
                  </a:txBody>
                  <a:tcPr marL="10980" marR="10980" marT="10980" marB="1098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600" b="1" dirty="0">
                          <a:effectLst/>
                        </a:rPr>
                        <a:t>Comments</a:t>
                      </a:r>
                    </a:p>
                  </a:txBody>
                  <a:tcPr marL="10980" marR="10980" marT="10980" marB="10980"/>
                </a:tc>
                <a:extLst>
                  <a:ext uri="{0D108BD9-81ED-4DB2-BD59-A6C34878D82A}">
                    <a16:rowId xmlns:a16="http://schemas.microsoft.com/office/drawing/2014/main" val="1589278278"/>
                  </a:ext>
                </a:extLst>
              </a:tr>
              <a:tr h="90520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 7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Portable Gemini Terminal Using ESP32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Reddy, P.S.K. et al.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IJREISS, 2025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Gemini API, Python, ESP32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Voice-controlled Gemini API on ESP32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NL-to-query, integration, performance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Real-time command-to-action ESP32 interface ​</a:t>
                      </a:r>
                    </a:p>
                  </a:txBody>
                  <a:tcPr marL="10980" marR="10980" marT="8235" marB="8235" anchor="ctr"/>
                </a:tc>
                <a:extLst>
                  <a:ext uri="{0D108BD9-81ED-4DB2-BD59-A6C34878D82A}">
                    <a16:rowId xmlns:a16="http://schemas.microsoft.com/office/drawing/2014/main" val="554062709"/>
                  </a:ext>
                </a:extLst>
              </a:tr>
              <a:tr h="104601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How to Code Arduino and ESP32 with AI?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Gupta, R. et al.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Pleasedontcode.com, 2024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AI code gen, DSL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Automatic sketch/code from user specs, ESP32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Coding efficiency, output correctness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Covers NLP/AI code workflows for ESP32/Arduino ​</a:t>
                      </a:r>
                    </a:p>
                  </a:txBody>
                  <a:tcPr marL="10980" marR="10980" marT="8235" marB="8235" anchor="ctr"/>
                </a:tc>
                <a:extLst>
                  <a:ext uri="{0D108BD9-81ED-4DB2-BD59-A6C34878D82A}">
                    <a16:rowId xmlns:a16="http://schemas.microsoft.com/office/drawing/2014/main" val="2931971915"/>
                  </a:ext>
                </a:extLst>
              </a:tr>
              <a:tr h="90520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A smart energy monitoring system using ESP32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El-Khozondar, H.J. et al.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Sci. Direct, 2024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Data analytics, ESP32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ESP32 Arduino energy monitoring/control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it-IT" sz="1400" dirty="0">
                          <a:effectLst/>
                        </a:rPr>
                        <a:t>Arduino code accuracy, IoT performance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Includes auto-generated ESP32 code for sensors ​</a:t>
                      </a:r>
                    </a:p>
                  </a:txBody>
                  <a:tcPr marL="10980" marR="10980" marT="8235" marB="8235" anchor="ctr"/>
                </a:tc>
                <a:extLst>
                  <a:ext uri="{0D108BD9-81ED-4DB2-BD59-A6C34878D82A}">
                    <a16:rowId xmlns:a16="http://schemas.microsoft.com/office/drawing/2014/main" val="2088331996"/>
                  </a:ext>
                </a:extLst>
              </a:tr>
              <a:tr h="132762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10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Generative AI in Software Engineering: Revolutionizing Coding Practices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Yilmaz, A. et al.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>
                          <a:effectLst/>
                        </a:rPr>
                        <a:t>IJCESEN, 2025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Generative AI, LLMs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Studies GenAI for code and IoT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Coding efficiency, code quality</a:t>
                      </a:r>
                    </a:p>
                  </a:txBody>
                  <a:tcPr marL="10980" marR="10980" marT="8235" marB="8235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400" dirty="0">
                          <a:effectLst/>
                        </a:rPr>
                        <a:t>Evaluates practical value of GenAI for IoT code </a:t>
                      </a:r>
                    </a:p>
                  </a:txBody>
                  <a:tcPr marL="10980" marR="10980" marT="8235" marB="8235" anchor="ctr"/>
                </a:tc>
                <a:extLst>
                  <a:ext uri="{0D108BD9-81ED-4DB2-BD59-A6C34878D82A}">
                    <a16:rowId xmlns:a16="http://schemas.microsoft.com/office/drawing/2014/main" val="259292984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6408547-63A0-E5D2-039F-7EF1233DD0CB}"/>
              </a:ext>
            </a:extLst>
          </p:cNvPr>
          <p:cNvSpPr txBox="1"/>
          <p:nvPr/>
        </p:nvSpPr>
        <p:spPr>
          <a:xfrm>
            <a:off x="839416" y="284892"/>
            <a:ext cx="7344816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00" dirty="0">
                <a:solidFill>
                  <a:schemeClr val="bg2"/>
                </a:solidFill>
                <a:latin typeface="Bookman Old Style" panose="02050604050505020204" pitchFamily="18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1620838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Proposed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9376" y="1988841"/>
            <a:ext cx="10676304" cy="4392487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takes natural language input from the user describing the desired IoT functionality (e.g., “Turn on the fan when room temperature exceeds 30°C”).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Large Language Model (LLM) parses the input to extract intent, devices, sensors, and actions required for the task.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the appropriate domain (e.g., Temperature Monitoring or Smart Agriculture).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Predefined ESP32 templates and sensor/actuator libraries are selected based on the detected domain.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Arduino-compatible ESP32 code and detailed wiring instructions are automatically generated.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code is uploaded and validated on real ESP32 hardware to demonstrate multi-domain functionality.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73017-C7B5-72B8-3CCD-4ADA0347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A1002-B743-A328-C4A1-F42AC9B4E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916832"/>
            <a:ext cx="4572000" cy="448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560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B120-BFAB-79F6-6804-4CA6F0F2D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10B14-382D-71BF-0C83-2B2CC44BD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Input Module: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Accepts natural language commands describing the desired IoT system behaviour.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Web Interface: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Provides a browser-based platform to capture user input and display generated outputs.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Backend Server: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Handles API requests and coordinates communication between frontend and processing modules.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&amp; Intent Detection Module: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Extracts domain, sensor, actuator, condition, and threshold information from the input command.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Identification Component: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Classifies the command into a specific IoT domain, such as Temperature or Agriculture.</a:t>
            </a:r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985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3E79B-E877-70A0-158A-5778AD24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C6E28-A160-BC5C-65A4-538D70B68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1737360"/>
            <a:ext cx="10058400" cy="464396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 Module: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Generates executable ESP32 Arduino code using domain-specific templates.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Wiring Instruction Generator: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Produces accurate GPIO mappings and hardware connection details for the selected components.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List Generator: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Identifies and lists required hardware components based on detected domain and intent.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Deployment Layer: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Uploads and executes the generated Arduino code on the ESP32 microcontroller.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Layer: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Captures environmental data such as temperature or soil moisture for system decision-making.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Actuator Layer: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Performs physical actions such as activating LEDs, relays, or pumps based on control logic.</a:t>
            </a:r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337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A9493-8BD2-3B3D-62A4-FC2E5B736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Implementation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635E2-5AFE-8741-F0B2-0AC2BA996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42011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Python, Flask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Rule-based Intent Detection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Platform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ESP32 Microcontroller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Environment: Arduino IDE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DHT11 (Temperature), Soil Moisture Sensor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Actuators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LED, Relay Module, Water Pump</a:t>
            </a:r>
          </a:p>
          <a:p>
            <a:pPr>
              <a:lnSpc>
                <a:spcPct val="100000"/>
              </a:lnSpc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/ Input Source:  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external dataset required</a:t>
            </a:r>
          </a:p>
          <a:p>
            <a:pPr>
              <a:lnSpc>
                <a:spcPct val="100000"/>
              </a:lnSpc>
            </a:pP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829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77A9-48F3-B911-1D80-74010E4C8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Implementation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0748C-A5E6-ECC7-F4BC-41292351A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lnSpc>
                <a:spcPct val="100000"/>
              </a:lnSpc>
              <a:buNone/>
            </a:pP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Development Process</a:t>
            </a:r>
          </a:p>
          <a:p>
            <a:pPr marL="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web interface for natural language input</a:t>
            </a:r>
          </a:p>
          <a:p>
            <a:pPr marL="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Flask backend API for request handling</a:t>
            </a:r>
          </a:p>
          <a:p>
            <a:pPr marL="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NLP module for intent and domain extraction</a:t>
            </a:r>
          </a:p>
          <a:p>
            <a:pPr marL="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domain-based ESP32 code templates</a:t>
            </a:r>
          </a:p>
          <a:p>
            <a:pPr marL="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wiring instructions and components list dynamically</a:t>
            </a:r>
          </a:p>
          <a:p>
            <a:pPr marL="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generated code on ESP32 hardware prototype</a:t>
            </a:r>
          </a:p>
          <a:p>
            <a:pPr marL="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Validated system using temperature and agriculture use cases</a:t>
            </a:r>
          </a:p>
          <a:p>
            <a:pPr>
              <a:lnSpc>
                <a:spcPct val="100000"/>
              </a:lnSpc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10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204D-832E-8D0D-D519-C8B988B26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A420D-A362-0964-B20E-AF70306D4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5422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8E003D-1834-6EA1-19F0-1D6B200E97DB}"/>
              </a:ext>
            </a:extLst>
          </p:cNvPr>
          <p:cNvSpPr txBox="1"/>
          <p:nvPr/>
        </p:nvSpPr>
        <p:spPr>
          <a:xfrm>
            <a:off x="618842" y="188640"/>
            <a:ext cx="1108923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700" dirty="0">
                <a:latin typeface="Bookman Old Style" panose="02050604050505020204" pitchFamily="18" charset="0"/>
              </a:rPr>
              <a:t>Applications</a:t>
            </a:r>
          </a:p>
          <a:p>
            <a:endParaRPr lang="en-IN" sz="4700" dirty="0">
              <a:latin typeface="Bookman Old Style" panose="02050604050505020204" pitchFamily="18" charset="0"/>
            </a:endParaRPr>
          </a:p>
          <a:p>
            <a:endParaRPr lang="en-IN" sz="4700" dirty="0">
              <a:latin typeface="Bookman Old Style" panose="020506040505050202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B0A4F78-57A4-A3C8-1EC1-D14A70ED9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074" y="775738"/>
            <a:ext cx="11589926" cy="607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Agriculture → Automated irrigation &amp; crop monitoring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Home → Control appliances using natural language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 → Air quality &amp; temperature tracking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→ Patient monitoring &amp; alert systems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 → Easy IoT learning for students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 → Process monitoring &amp; control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800" b="1" dirty="0"/>
              <a:t> </a:t>
            </a:r>
            <a:r>
              <a:rPr lang="en-US" sz="4700" dirty="0">
                <a:latin typeface="Bookman Old Style" panose="02050604050505020204" pitchFamily="18" charset="0"/>
              </a:rPr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coding required (natural language based)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reduces development effort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errors with automated code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both code and wiring 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for non-technical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multiple IoT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1DB5C9-969F-ABE8-AD45-44C6A0419C68}"/>
              </a:ext>
            </a:extLst>
          </p:cNvPr>
          <p:cNvCxnSpPr/>
          <p:nvPr/>
        </p:nvCxnSpPr>
        <p:spPr>
          <a:xfrm>
            <a:off x="618842" y="908720"/>
            <a:ext cx="1015767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F19E2C-5951-95C1-8105-EDA84EAA753D}"/>
              </a:ext>
            </a:extLst>
          </p:cNvPr>
          <p:cNvCxnSpPr>
            <a:stCxn id="4" idx="1"/>
          </p:cNvCxnSpPr>
          <p:nvPr/>
        </p:nvCxnSpPr>
        <p:spPr>
          <a:xfrm flipV="1">
            <a:off x="602074" y="3789040"/>
            <a:ext cx="10102438" cy="259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416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EC57-DA67-EFE5-1FE4-CC689EAD8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169C4-5413-E9F0-5E81-32CE88B61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Natural Language to IoT Code Generator for ESP32-based systems.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Enabled automatic generation of executable Arduino code, wiring instructions, and components list from plain English input.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multi-domain support including Temperature Monitoring and Smart Agriculture.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development time and minimized manual coding errors in IoT prototyping.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Validated the system through real-time hardware execution using ESP32 and sensors.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a scalable framework that can be extended to additional IoT domains in the future.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029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E54F9-0FE6-E99A-145D-2B6445156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F44B2-9EC6-97E3-D856-2961C037A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9850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support additional domains such as Smart Home, Industrial Safety, and Healthcare monitoring.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advanced AI/LLM-based NLP models for more accurate and flexible natural language understanding.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cloud integration and MQTT support for remote monitoring and control.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real-time IoT code generation and deployment.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drag-and-drop visual wiring diagrams for improved user experience.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as a scalable no-code IoT platform for educational institutions and startups.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169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B846-DAE0-745B-3C9C-6F818B44D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FA1FA-BEEA-8CA0-78DC-EFC847D80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392" y="2108201"/>
            <a:ext cx="10532288" cy="3760891"/>
          </a:xfrm>
        </p:spPr>
        <p:txBody>
          <a:bodyPr/>
          <a:lstStyle/>
          <a:p>
            <a:pPr hangingPunct="0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Z. Gui, H. Li, and T. Wang, “Natural language interfaces for IoT systems: Design and implementation using Web of Things,” IEEE Internet of Things Journal, vol. 10, no. 12, pp. 10452–10464, 2023.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S. Wang, Y. Chen, and M. Liu, “Survey of techniques for converting natural language into code using transformer models,” IEEE Access, vol. 11, pp. 88421–88438, 2023.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L. Shen, Y. Zhao, and K. Huang, “Lightweight language models for IoT code generation in edge environments,” IEEE Transactions on Emerging Topics in Computing, vol. 12, no. 2, pp. 678–690, 2024.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R. Patel and K. Shah, “Low-code IoT automation frameworks: Design and performance evaluation,” IEEE Access, vol. 12, pp. 10234–10249, 2024.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Haug, M. Fischer, and T. Braun, “Automated validation techniques for microcontroller-based IoT applications,” IEEE Embedded Systems Letters, vol. 17, no. 1, pp. 21–25, 2025.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83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E15225-ECC4-E5D0-8B0D-4FC0BCD06DC7}"/>
              </a:ext>
            </a:extLst>
          </p:cNvPr>
          <p:cNvSpPr txBox="1"/>
          <p:nvPr/>
        </p:nvSpPr>
        <p:spPr>
          <a:xfrm>
            <a:off x="479376" y="260648"/>
            <a:ext cx="11521280" cy="6275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Y. Zhang, X. Liu, and D. Chen, “Structured firmware generation for resource-constrained embedded systems,” IEEE Internet of Things Journal, vol. 11, no. 5, pp. 4210–4223, 2024.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T. Nguyen and A. Park, “Safety-aware code generation for embedded IoT devices,” IEEE Transactions on Software Engineering, early access, 2024.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M. Lee, K. Choi, and P. Roy, “Evaluation of automated code generation techniques for embedded systems,” IEEE Systems Journal, vol. 18, no. 2, pp. 1650–1661, 2024.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F. Hassan and R. Ibrahim, “Edge-based IoT automation using structured command interpretation,” IEEE Internet of Things Magazine, vol. 7, no. 1, pp. 34–40, 2024.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K. Verma and P. Singh, “Rule-based approaches for embedded firmware generation in IoT systems,” IEEE Transactions on Industrial Informatics, vol. 21, no. 3, pp. 1895–1904, 2025.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M. Hassan, R. Ali, and J. Kim, “Lightweight natural language interfaces for edge IoT control systems,” IEEE Internet of Things Journal, vol. 11, no. 14, pp. 12876–12889, 2024.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P. R. Deshmukh and L. Wang, “Template-oriented firmware generation for low-power microcontrollers,” IEEE Transactions on Industrial Informatics, vol. 20, no. 6, pp. 4890–4901, 2024.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319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B7ED65-9D39-55CE-2D17-7FF30DF23B87}"/>
              </a:ext>
            </a:extLst>
          </p:cNvPr>
          <p:cNvSpPr txBox="1"/>
          <p:nvPr/>
        </p:nvSpPr>
        <p:spPr>
          <a:xfrm>
            <a:off x="479376" y="167450"/>
            <a:ext cx="11449272" cy="6690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K. Yamamoto and S. Gupta, “Deterministic parsing models for embedded code synthesis,” IEEE Embedded Systems Letters, vol. 17, no. 2, pp. 55–59, 2025.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T. Brown and H. Zhao, “Comparison of rule-based and transformer-based code generation for IoT applications,” IEEE Systems Journal, vol. 19, no. 1, pp. 210–221, 2025.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E. Martínez, J. Lopez, and A. Singh, “Hardware-aware natural language programming frameworks for IoT automation,” IEEE Access, vol. 13, pp. 33412–33425, 2025.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A. R. Mehta and S. Kulkarni, “Edge-intelligent IoT automation using lightweight embedded models,” IEEE Internet of Things Journal, vol. 11, no. 9, pp. 7421–7433, 2024.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H. Liu, Y. Park, and M. Chen, “Automated firmware synthesis techniques for embedded systems,” IEEE Transactions on Industrial Informatics, vol. 20, no. 4, pp. 3102–3113, 2024.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J. Alvarez and T. Nguyen, “Hardware validation strategies for reliable IoT firmware deployment,” IEEE Embedded Systems Letters, vol. 17, no. 2, pp. 45–49, 2025.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S. Gupta and R. Sharma, “Efficient IoT code generation using domain-specific languages,” IEEE Access, vol. 12, pp. 55213–55228, 2024.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hangingPunct="0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D.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Jurafsky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J. H. Martin, Speech and Language Processing, 3rd ed., draft, 2023.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105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1249361"/>
          </a:xfrm>
        </p:spPr>
        <p:txBody>
          <a:bodyPr/>
          <a:lstStyle/>
          <a:p>
            <a:r>
              <a:rPr lang="en-IN" sz="2400" b="1" dirty="0"/>
              <a:t>                                    </a:t>
            </a:r>
            <a:r>
              <a:rPr lang="en-IN" sz="6600" b="1" dirty="0"/>
              <a:t>THANK YOU </a:t>
            </a:r>
            <a:endParaRPr lang="en-US" sz="66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 txBox="1">
            <a:spLocks noGrp="1"/>
          </p:cNvSpPr>
          <p:nvPr>
            <p:ph type="title"/>
          </p:nvPr>
        </p:nvSpPr>
        <p:spPr>
          <a:xfrm>
            <a:off x="1278925" y="1194947"/>
            <a:ext cx="100584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b="1" dirty="0"/>
              <a:t>            </a:t>
            </a:r>
            <a:r>
              <a:rPr lang="en-US" sz="6200" b="1" dirty="0"/>
              <a:t>Queries ??</a:t>
            </a:r>
            <a:endParaRPr sz="62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6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2576</Words>
  <Application>Microsoft Office PowerPoint</Application>
  <PresentationFormat>Widescreen</PresentationFormat>
  <Paragraphs>264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Wingdings</vt:lpstr>
      <vt:lpstr>Bookman Old Style</vt:lpstr>
      <vt:lpstr>Times New Roman</vt:lpstr>
      <vt:lpstr>Calibri</vt:lpstr>
      <vt:lpstr>Arial</vt:lpstr>
      <vt:lpstr>Libre Franklin</vt:lpstr>
      <vt:lpstr>1_RetrospectVTI</vt:lpstr>
      <vt:lpstr>PowerPoint Presentation</vt:lpstr>
      <vt:lpstr>PowerPoint Presentation</vt:lpstr>
      <vt:lpstr>Abstract</vt:lpstr>
      <vt:lpstr>Introduction</vt:lpstr>
      <vt:lpstr>Problem Statement</vt:lpstr>
      <vt:lpstr>Objectives</vt:lpstr>
      <vt:lpstr>Literature Survey</vt:lpstr>
      <vt:lpstr>PowerPoint Presentation</vt:lpstr>
      <vt:lpstr>PowerPoint Presentation</vt:lpstr>
      <vt:lpstr>Proposed Model</vt:lpstr>
      <vt:lpstr>System Architecture</vt:lpstr>
      <vt:lpstr>System Architecture</vt:lpstr>
      <vt:lpstr>System Architecture</vt:lpstr>
      <vt:lpstr>Implementation Details</vt:lpstr>
      <vt:lpstr>Implementation Details</vt:lpstr>
      <vt:lpstr>Results and Analysis</vt:lpstr>
      <vt:lpstr>PowerPoint Presentation</vt:lpstr>
      <vt:lpstr>Conclusion</vt:lpstr>
      <vt:lpstr>Future Scope</vt:lpstr>
      <vt:lpstr>References</vt:lpstr>
      <vt:lpstr>PowerPoint Presentation</vt:lpstr>
      <vt:lpstr>PowerPoint Presentation</vt:lpstr>
      <vt:lpstr>PowerPoint Presentation</vt:lpstr>
      <vt:lpstr>            Queries ??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rohit</dc:creator>
  <cp:lastModifiedBy>Srivarshitha Sriperambudur</cp:lastModifiedBy>
  <cp:revision>67</cp:revision>
  <dcterms:created xsi:type="dcterms:W3CDTF">2020-05-28T02:27:55Z</dcterms:created>
  <dcterms:modified xsi:type="dcterms:W3CDTF">2026-03-22T17:41:22Z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1033-11.2.0.9363</vt:lpwstr>
  </property>
</Properties>
</file>